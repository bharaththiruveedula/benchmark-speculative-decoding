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48" r:id="rId2"/>
    <p:sldMasterId id="2147483659" r:id="rId3"/>
    <p:sldMasterId id="2147483669" r:id="rId4"/>
  </p:sldMasterIdLst>
  <p:notesMasterIdLst>
    <p:notesMasterId r:id="rId13"/>
  </p:notesMasterIdLst>
  <p:sldIdLst>
    <p:sldId id="711" r:id="rId5"/>
    <p:sldId id="712" r:id="rId12"/>
    <p:sldId id="713" r:id="rId11"/>
    <p:sldId id="714" r:id="rId10"/>
    <p:sldId id="715" r:id="rId9"/>
    <p:sldId id="716" r:id="rId8"/>
    <p:sldId id="717" r:id="rId7"/>
    <p:sldId id="718" r:id="rId6"/>
    <p:sldId id="719" r:id="rId19"/>
    <p:sldId id="720" r:id="rId20"/>
    <p:sldId id="721" r:id="rId21"/>
    <p:sldId id="722" r:id="rId22"/>
    <p:sldId id="723" r:id="rId23"/>
    <p:sldId id="724" r:id="rId24"/>
    <p:sldId id="725" r:id="rId25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clrMru>
    <a:srgbClr val="BF5700"/>
    <a:srgbClr val="C6531F"/>
    <a:srgbClr val="C01338"/>
    <a:srgbClr val="C00000"/>
    <a:srgbClr val="79C82A"/>
    <a:srgbClr val="DE7E7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01" autoAdjust="0"/>
    <p:restoredTop sz="90909" autoAdjust="0"/>
  </p:normalViewPr>
  <p:slideViewPr>
    <p:cSldViewPr>
      <p:cViewPr>
        <p:scale>
          <a:sx n="143" d="100"/>
          <a:sy n="143" d="100"/>
        </p:scale>
        <p:origin x="408" y="12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F61BC03-C347-4B76-B102-C0B229770122}"/>
    <pc:docChg chg="modSld">
      <pc:chgData name="" userId="" providerId="" clId="Web-{DF61BC03-C347-4B76-B102-C0B229770122}" dt="2018-03-19T17:40:31.207" v="3"/>
      <pc:docMkLst>
        <pc:docMk/>
      </pc:docMkLst>
      <pc:sldChg chg="modSp">
        <pc:chgData name="" userId="" providerId="" clId="Web-{DF61BC03-C347-4B76-B102-C0B229770122}" dt="2018-03-19T17:40:31.207" v="3"/>
        <pc:sldMkLst>
          <pc:docMk/>
          <pc:sldMk cId="247584020" sldId="711"/>
        </pc:sldMkLst>
        <pc:spChg chg="mod">
          <ac:chgData name="" userId="" providerId="" clId="Web-{DF61BC03-C347-4B76-B102-C0B229770122}" dt="2018-03-19T17:40:31.207" v="3"/>
          <ac:spMkLst>
            <pc:docMk/>
            <pc:sldMk cId="247584020" sldId="711"/>
            <ac:spMk id="12" creationId="{00000000-0000-0000-0000-000000000000}"/>
          </ac:spMkLst>
        </pc:spChg>
      </pc:sldChg>
    </pc:docChg>
  </pc:docChgLst>
  <pc:docChgLst>
    <pc:chgData clId="Web-{6F3EA92A-6327-4760-B8BE-E7EAE48D3FC4}"/>
    <pc:docChg chg="modSld">
      <pc:chgData name="" userId="" providerId="" clId="Web-{6F3EA92A-6327-4760-B8BE-E7EAE48D3FC4}" dt="2018-03-19T17:41:55.319" v="2"/>
      <pc:docMkLst>
        <pc:docMk/>
      </pc:docMkLst>
      <pc:sldChg chg="modSp">
        <pc:chgData name="" userId="" providerId="" clId="Web-{6F3EA92A-6327-4760-B8BE-E7EAE48D3FC4}" dt="2018-03-19T17:41:55.319" v="2"/>
        <pc:sldMkLst>
          <pc:docMk/>
          <pc:sldMk cId="247584020" sldId="711"/>
        </pc:sldMkLst>
        <pc:spChg chg="mod">
          <ac:chgData name="" userId="" providerId="" clId="Web-{6F3EA92A-6327-4760-B8BE-E7EAE48D3FC4}" dt="2018-03-19T17:41:55.319" v="2"/>
          <ac:spMkLst>
            <pc:docMk/>
            <pc:sldMk cId="247584020" sldId="711"/>
            <ac:spMk id="1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5/4/23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morning. Our project studies speculative decoding under production serving</a:t>
            </a:r>
          </a:p>
          <a:p>
            <a:r>
              <a:t>stacks.</a:t>
            </a:r>
          </a:p>
          <a:p/>
          <a:p>
            <a:r>
              <a:t>The speedups reported for speculative decoding are typically two to three times</a:t>
            </a:r>
          </a:p>
          <a:p>
            <a:r>
              <a:t>over autoregressive decoding.</a:t>
            </a:r>
          </a:p>
          <a:p/>
          <a:p>
            <a:r>
              <a:t>Rather than reproducing a single number from a paper, we measured several</a:t>
            </a:r>
          </a:p>
          <a:p>
            <a:r>
              <a:t>speculative methods — classical draft-model speculation, Medusa, and EAGLE-3 —</a:t>
            </a:r>
          </a:p>
          <a:p>
            <a:r>
              <a:t>on the same Llama-3.1-8B-Instruct target, across two serving engines and two</a:t>
            </a:r>
          </a:p>
          <a:p>
            <a:r>
              <a:t>levels of offered load. Across those configurations our measured speedups</a:t>
            </a:r>
          </a:p>
          <a:p>
            <a:r>
              <a:t>ranged from 2.48× down to 0.90×. One configuration was slower than the</a:t>
            </a:r>
          </a:p>
          <a:p>
            <a:r>
              <a:t>autoregressive baseline it was meant to accelerate.</a:t>
            </a:r>
          </a:p>
          <a:p/>
          <a:p>
            <a:r>
              <a:t>That spread frames our two questions. First, does the same draft method rank</a:t>
            </a:r>
          </a:p>
          <a:p>
            <a:r>
              <a:t>fastest on both engines, or does the ordering change? Second, does the speedup</a:t>
            </a:r>
          </a:p>
          <a:p>
            <a:r>
              <a:t>persist as concurrency increases?</a:t>
            </a:r>
          </a:p>
          <a:p/>
          <a:p>
            <a:r>
              <a:t>The takeaway we will support is that speculative decoding cannot be described</a:t>
            </a:r>
          </a:p>
          <a:p>
            <a:r>
              <a:t>by one universal speedup number; it has to be measured under the deployment</a:t>
            </a:r>
          </a:p>
          <a:p>
            <a:r>
              <a:t>conditions you intend to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9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start with the bottleneck we are trying to solve: autoregressive decoding</a:t>
            </a:r>
          </a:p>
          <a:p>
            <a:r>
              <a:t>is inherently sequential.</a:t>
            </a:r>
          </a:p>
          <a:p/>
          <a:p>
            <a:r>
              <a:t>After processing the prompt, the model predicts one token. That token is</a:t>
            </a:r>
          </a:p>
          <a:p>
            <a:r>
              <a:t>appended to the sequence and becomes part of the input needed to predict the</a:t>
            </a:r>
          </a:p>
          <a:p>
            <a:r>
              <a:t>next one.</a:t>
            </a:r>
          </a:p>
          <a:p/>
          <a:p>
            <a:r>
              <a:t>For example, the model must select Paris before it can predict the token that</a:t>
            </a:r>
          </a:p>
          <a:p>
            <a:r>
              <a:t>follows Paris. The next decoding step cannot begin until the previous step</a:t>
            </a:r>
          </a:p>
          <a:p>
            <a:r>
              <a:t>finishes.</a:t>
            </a:r>
          </a:p>
          <a:p/>
          <a:p>
            <a:r>
              <a:t>KV caching prevents us from recomputing the entire prompt, but it does not</a:t>
            </a:r>
          </a:p>
          <a:p>
            <a:r>
              <a:t>remove this token-to-token dependency.</a:t>
            </a:r>
          </a:p>
          <a:p/>
          <a:p>
            <a:r>
              <a:t>Each decoding step invokes the full target model to produce one new token. That</a:t>
            </a:r>
          </a:p>
          <a:p>
            <a:r>
              <a:t>cost is dominated by reading the model's parameters out of memory rather than</a:t>
            </a:r>
          </a:p>
          <a:p>
            <a:r>
              <a:t>by the arithmetic itself, which means a single-token step leaves much of the</a:t>
            </a:r>
          </a:p>
          <a:p>
            <a:r>
              <a:t>GPU's compute idle.</a:t>
            </a:r>
          </a:p>
          <a:p/>
          <a:p>
            <a:r>
              <a:t>One approximation worth noting: the first output token can be produced from the</a:t>
            </a:r>
          </a:p>
          <a:p>
            <a:r>
              <a:t>prompt-prefill computation, so saying that N output tokens require exactly N</a:t>
            </a:r>
          </a:p>
          <a:p>
            <a:r>
              <a:t>decoding passes is not strictly accurate. The important point is that the</a:t>
            </a:r>
          </a:p>
          <a:p>
            <a:r>
              <a:t>tokens after it require serial decoding steps.</a:t>
            </a:r>
          </a:p>
          <a:p/>
          <a:p>
            <a:r>
              <a:t>This motivates speculative decoding: a cheaper mechanism proposes several</a:t>
            </a:r>
          </a:p>
          <a:p>
            <a:r>
              <a:t>future tokens, and the target model verifies them together — using compute that</a:t>
            </a:r>
          </a:p>
          <a:p>
            <a:r>
              <a:t>a single-token step would have left idle.</a:t>
            </a:r>
          </a:p>
          <a:p/>
          <a:p>
            <a:r>
              <a:t>Reported speedups, however, are usually measured on a single serving</a:t>
            </a:r>
          </a:p>
          <a:p>
            <a:r>
              <a:t>implementation, at one batch size, with one draft length. Speculative decoding</a:t>
            </a:r>
          </a:p>
          <a:p>
            <a:r>
              <a:t>has no universal speedup; it depends on draft quality, draft cost, the serving</a:t>
            </a:r>
          </a:p>
          <a:p>
            <a:r>
              <a:t>engine, the hardware, and the request load. A single-engine protocol cannot</a:t>
            </a:r>
          </a:p>
          <a:p>
            <a:r>
              <a:t>separate those factors, and that is what our design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cheaper mechanism is called the drafter. It proposes several candidate</a:t>
            </a:r>
          </a:p>
          <a:p>
            <a:r>
              <a:t>tokens ahead of the current confirmed sequence.</a:t>
            </a:r>
          </a:p>
          <a:p/>
          <a:p>
            <a:r>
              <a:t>Different methods create these candidates differently. A small draft language</a:t>
            </a:r>
          </a:p>
          <a:p>
            <a:r>
              <a:t>model proposes tokens autoregressively, and EAGLE-3 invokes its draft module</a:t>
            </a:r>
          </a:p>
          <a:p>
            <a:r>
              <a:t>repeatedly to extend a candidate tree, whereas Medusa uses additional heads to</a:t>
            </a:r>
          </a:p>
          <a:p>
            <a:r>
              <a:t>predict future-token candidates in parallel.</a:t>
            </a:r>
          </a:p>
          <a:p/>
          <a:p>
            <a:r>
              <a:t>The proposed tokens are temporarily supplied to the target model. The target</a:t>
            </a:r>
          </a:p>
          <a:p>
            <a:r>
              <a:t>performs its normal next-token calculations across those positions in one</a:t>
            </a:r>
          </a:p>
          <a:p>
            <a:r>
              <a:t>verification step.</a:t>
            </a:r>
          </a:p>
          <a:p/>
          <a:p>
            <a:r>
              <a:t>The serving engine then compares the target's predictions with the draft</a:t>
            </a:r>
          </a:p>
          <a:p>
            <a:r>
              <a:t>tokens. It accepts the matching prefix and rejects the draft from the first</a:t>
            </a:r>
          </a:p>
          <a:p>
            <a:r>
              <a:t>mismatch onward, and the target's own prediction at the mismatch supplies the</a:t>
            </a:r>
          </a:p>
          <a:p>
            <a:r>
              <a:t>correction.</a:t>
            </a:r>
          </a:p>
          <a:p/>
          <a:p>
            <a:r>
              <a:t>With the correct acceptance procedure, this improves execution efficiency</a:t>
            </a:r>
          </a:p>
          <a:p>
            <a:r>
              <a:t>without changing the target model's output distribution.</a:t>
            </a:r>
          </a:p>
          <a:p/>
          <a:p>
            <a:r>
              <a:t>It is not free, though. Depending on the method, speculation requires an</a:t>
            </a:r>
          </a:p>
          <a:p>
            <a:r>
              <a:t>additional draft model, an auxiliary module, or extra decoding heads, and that</a:t>
            </a:r>
          </a:p>
          <a:p>
            <a:r>
              <a:t>cost belongs in the accounting.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Autoregressive decoding is our baseline. It uses only the target model and does</a:t>
            </a:r>
          </a:p>
          <a:p>
            <a:r>
              <a:t>not speculate.</a:t>
            </a:r>
          </a:p>
          <a:p/>
          <a:p>
            <a:r>
              <a:t>Classical speculative decoding uses Llama-3.2-1B-Instruct as a separate draft</a:t>
            </a:r>
          </a:p>
          <a:p>
            <a:r>
              <a:t>model, while Llama-3.1-8B-Instruct remains the target. This method may achieve</a:t>
            </a:r>
          </a:p>
          <a:p>
            <a:r>
              <a:t>good acceptance, but it also introduces the cost of running a second</a:t>
            </a:r>
          </a:p>
          <a:p>
            <a:r>
              <a:t>Transformer.</a:t>
            </a:r>
          </a:p>
          <a:p/>
          <a:p>
            <a:r>
              <a:t>Medusa avoids a separate draft Transformer. It adds decoding heads that predict</a:t>
            </a:r>
          </a:p>
          <a:p>
            <a:r>
              <a:t>multiple future-token candidates in parallel.</a:t>
            </a:r>
          </a:p>
          <a:p/>
          <a:p>
            <a:r>
              <a:t>In our comparison, Medusa is available through vLLM. It is not listed as a</a:t>
            </a:r>
          </a:p>
          <a:p>
            <a:r>
              <a:t>supported method in the SGLang 0.5.17 documentation, so we report it as not</a:t>
            </a:r>
          </a:p>
          <a:p>
            <a:r>
              <a:t>available rather than inventing a comparison.</a:t>
            </a:r>
          </a:p>
          <a:p/>
          <a:p>
            <a:r>
              <a:t>EAGLE-3 uses a specialized draft module with direct token prediction and</a:t>
            </a:r>
          </a:p>
          <a:p>
            <a:r>
              <a:t>multi-layer features from the target model. We state that precisely because</a:t>
            </a:r>
          </a:p>
          <a:p>
            <a:r>
              <a:t>feature-level prediction describes earlier EAGLE approaches and is not an</a:t>
            </a:r>
          </a:p>
          <a:p>
            <a:r>
              <a:t>accurate description of EAGLE-3.</a:t>
            </a:r>
          </a:p>
          <a:p/>
          <a:p>
            <a:r>
              <a:t>We also need to distinguish fixed draft lengths from adaptive decoding. The</a:t>
            </a:r>
          </a:p>
          <a:p>
            <a:r>
              <a:t>vLLM K equals one, three, and five rows are a fixed-K ablation. SGLang adaptive</a:t>
            </a:r>
          </a:p>
          <a:p>
            <a:r>
              <a:t>decoding is a different, acceptance-driven policy that adjusts the speculative</a:t>
            </a:r>
          </a:p>
          <a:p>
            <a:r>
              <a:t>configuration at runtime, so we do not pool the two.</a:t>
            </a:r>
          </a:p>
          <a:p/>
          <a:p>
            <a:r>
              <a:t>Because checkpoints and configurations differ between engines, these are</a:t>
            </a:r>
          </a:p>
          <a:p>
            <a:r>
              <a:t>practical serving comparisons — not perfectly controlled engine-only</a:t>
            </a:r>
          </a:p>
          <a:p>
            <a:r>
              <a:t>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model is Llama-3.1-8B-Instruct running in BF16 with a configured</a:t>
            </a:r>
          </a:p>
          <a:p>
            <a:r>
              <a:t>context length of 4,096.</a:t>
            </a:r>
          </a:p>
          <a:p/>
          <a:p>
            <a:r>
              <a:t>We use greedy decoding with temperature zero and allow up to 256 new tokens.</a:t>
            </a:r>
          </a:p>
          <a:p/>
          <a:p>
            <a:r>
              <a:t>The workload contains 16 short technical prompts.</a:t>
            </a:r>
          </a:p>
          <a:p/>
          <a:p>
            <a:r>
              <a:t>We test two concurrency levels. Concurrency one represents an interactive</a:t>
            </a:r>
          </a:p>
          <a:p>
            <a:r>
              <a:t>request, while concurrency sixteen represents multiple requests sharing the GPU.</a:t>
            </a:r>
          </a:p>
          <a:p/>
          <a:p>
            <a:r>
              <a:t>The hardware is an NVIDIA L40 with 48 GB of physical GDDR6 memory. Software may</a:t>
            </a:r>
          </a:p>
          <a:p>
            <a:r>
              <a:t>report roughly 44.7 to 46 gibibytes of visible capacity, depending on how it is</a:t>
            </a:r>
          </a:p>
          <a:p>
            <a:r>
              <a:t>measured.</a:t>
            </a:r>
          </a:p>
          <a:p/>
          <a:p>
            <a:r>
              <a:t>The two serving engines are vLLM 0.27.1 and SGLang 0.5.17, run one process at a</a:t>
            </a:r>
          </a:p>
          <a:p>
            <a:r>
              <a:t>time so they never contend for the same GPU.</a:t>
            </a:r>
          </a:p>
          <a:p/>
          <a:p>
            <a:r>
              <a:t>Our main metrics include output tokens per second, time to first token, time</a:t>
            </a:r>
          </a:p>
          <a:p>
            <a:r>
              <a:t>per output token, peak VRAM, and acceptance counters where the engine exposes</a:t>
            </a:r>
          </a:p>
          <a:p>
            <a:r>
              <a:t>them.</a:t>
            </a:r>
          </a:p>
          <a:p/>
          <a:p>
            <a:r>
              <a:t>Every speedup is calculated relative to the autoregressive baseline from the</a:t>
            </a:r>
          </a:p>
          <a:p>
            <a:r>
              <a:t>same engine.</a:t>
            </a:r>
          </a:p>
          <a:p/>
          <a:p>
            <a:r>
              <a:t>One asymmetry to keep in mind for the results. On vLLM, the Medusa and</a:t>
            </a:r>
          </a:p>
          <a:p>
            <a:r>
              <a:t>classical rows ran with enforce-eager after CUDA-graph capture aborted on this</a:t>
            </a:r>
          </a:p>
          <a:p>
            <a:r>
              <a:t>virtualized GPU, while SGLang retained its graphs.</a:t>
            </a:r>
          </a:p>
          <a:p/>
          <a:p>
            <a:r>
              <a:t>The reported cells completed 16 out of 16 requests, although this is a small</a:t>
            </a:r>
          </a:p>
          <a:p>
            <a:r>
              <a:t>experimental workload rather than a statistically representative production</a:t>
            </a:r>
          </a:p>
          <a:p>
            <a:r>
              <a:t>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model, tokenizer, prompts, decoding configuration, and client-side</a:t>
            </a:r>
          </a:p>
          <a:p>
            <a:r>
              <a:t>metric definitions are held fixed.</a:t>
            </a:r>
          </a:p>
          <a:p/>
          <a:p>
            <a:r>
              <a:t>What changes is the serving stack around the model.</a:t>
            </a:r>
          </a:p>
          <a:p/>
          <a:p>
            <a:r>
              <a:t>vLLM and SGLang have different schedulers, CUDA-graph behavior,</a:t>
            </a:r>
          </a:p>
          <a:p>
            <a:r>
              <a:t>speculative-verification kernels, memory management, and method support.</a:t>
            </a:r>
          </a:p>
          <a:p/>
          <a:p>
            <a:r>
              <a:t>The EAGLE-3 implementations also use engine-compatible checkpoints and</a:t>
            </a:r>
          </a:p>
          <a:p>
            <a:r>
              <a:t>configurations that are not necessarily interchangeable.</a:t>
            </a:r>
          </a:p>
          <a:p/>
          <a:p>
            <a:r>
              <a:t>Therefore, a difference between vLLM and SGLang cannot automatically be</a:t>
            </a:r>
          </a:p>
          <a:p>
            <a:r>
              <a:t>attributed to the engine alone.</a:t>
            </a:r>
          </a:p>
          <a:p/>
          <a:p>
            <a:r>
              <a:t>Similarly, matching rankings across engines are consistent with an algorithmic</a:t>
            </a:r>
          </a:p>
          <a:p>
            <a:r>
              <a:t>advantage, but they do not prove that the algorithm is the only cause.</a:t>
            </a:r>
          </a:p>
          <a:p/>
          <a:p>
            <a:r>
              <a:t>This distinction is important: we are evaluating practical end-to-end</a:t>
            </a:r>
          </a:p>
          <a:p>
            <a:r>
              <a:t>configurations, not conducting a perfectly isolated engine experiment. It is</a:t>
            </a:r>
          </a:p>
          <a:p>
            <a:r>
              <a:t>also why every speedup is reported against its own engine's baseline, rather</a:t>
            </a:r>
          </a:p>
          <a:p>
            <a:r>
              <a:t>than combined into a single headline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concurrency one, EAGLE-3 is the highest-performing method in the</a:t>
            </a:r>
          </a:p>
          <a:p>
            <a:r>
              <a:t>project-reported results for both engines.</a:t>
            </a:r>
          </a:p>
          <a:p/>
          <a:p>
            <a:r>
              <a:t>For vLLM, EAGLE-3 with K equal to five reports 99.5 output tokens per second.</a:t>
            </a:r>
          </a:p>
          <a:p>
            <a:r>
              <a:t>The vLLM autoregressive baseline reports 40.2 tokens per second, giving a</a:t>
            </a:r>
          </a:p>
          <a:p>
            <a:r>
              <a:t>reported speedup of 2.48 times.</a:t>
            </a:r>
          </a:p>
          <a:p/>
          <a:p>
            <a:r>
              <a:t>For SGLang, adaptive EAGLE reports 83.0 tokens per second and a reported</a:t>
            </a:r>
          </a:p>
          <a:p>
            <a:r>
              <a:t>2.36-times speedup over its own autoregressive baseline.</a:t>
            </a:r>
          </a:p>
          <a:p/>
          <a:p>
            <a:r>
              <a:t>The EAGLE K-equals-three configurations report similar speedups — 2.22 times</a:t>
            </a:r>
          </a:p>
          <a:p>
            <a:r>
              <a:t>for vLLM and 2.24 times for SGLang.</a:t>
            </a:r>
          </a:p>
          <a:p/>
          <a:p>
            <a:r>
              <a:t>That similar ranking across engines supports the interpretation that EAGLE-3 is</a:t>
            </a:r>
          </a:p>
          <a:p>
            <a:r>
              <a:t>effective for this workload, although checkpoint and configuration differences</a:t>
            </a:r>
          </a:p>
          <a:p>
            <a:r>
              <a:t>prevent strict algorithm-only attribution.</a:t>
            </a:r>
          </a:p>
          <a:p/>
          <a:p>
            <a:r>
              <a:t>Classical 1B speculation reports only 1.05 times on vLLM but 1.90 times on</a:t>
            </a:r>
          </a:p>
          <a:p>
            <a:r>
              <a:t>SGLang. The vLLM classical row used eager mode, so this difference should not</a:t>
            </a:r>
          </a:p>
          <a:p>
            <a:r>
              <a:t>be interpreted as a clean comparison of the two engines.</a:t>
            </a:r>
          </a:p>
          <a:p/>
          <a:p>
            <a:r>
              <a:t>These values are project-reported measurements and require the raw benchmark</a:t>
            </a:r>
          </a:p>
          <a:p>
            <a:r>
              <a:t>logs and repeated runs for independent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concurrency sixteen, the GPU is serving multiple requests concurrently, so</a:t>
            </a:r>
          </a:p>
          <a:p>
            <a:r>
              <a:t>the workload emphasizes aggregate throughput.</a:t>
            </a:r>
          </a:p>
          <a:p/>
          <a:p>
            <a:r>
              <a:t>Speculative verification becomes more compute-intensive as effective work grows</a:t>
            </a:r>
          </a:p>
          <a:p>
            <a:r>
              <a:t>with batch size and draft length. Because of this, speculative decoding can</a:t>
            </a:r>
          </a:p>
          <a:p>
            <a:r>
              <a:t>eventually lose its advantage at sufficiently high load.</a:t>
            </a:r>
          </a:p>
          <a:p/>
          <a:p>
            <a:r>
              <a:t>However, that crossover does not occur for EAGLE-3 at concurrency sixteen in</a:t>
            </a:r>
          </a:p>
          <a:p>
            <a:r>
              <a:t>these project-reported L40 results.</a:t>
            </a:r>
          </a:p>
          <a:p/>
          <a:p>
            <a:r>
              <a:t>vLLM EAGLE-3 with K equal to five reports 831.5 tokens per second. Compared with</a:t>
            </a:r>
          </a:p>
          <a:p>
            <a:r>
              <a:t>the vLLM autoregressive baseline of 413.7 tokens per second, that is a reported</a:t>
            </a:r>
          </a:p>
          <a:p>
            <a:r>
              <a:t>2.01-times speedup.</a:t>
            </a:r>
          </a:p>
          <a:p/>
          <a:p>
            <a:r>
              <a:t>SGLang adaptive EAGLE reports 628.6 tokens per second, or 1.49 times its</a:t>
            </a:r>
          </a:p>
          <a:p>
            <a:r>
              <a:t>autoregressive baseline.</a:t>
            </a:r>
          </a:p>
          <a:p/>
          <a:p>
            <a:r>
              <a:t>The only reported method below its same-engine baseline is vLLM classical 1B, at</a:t>
            </a:r>
          </a:p>
          <a:p>
            <a:r>
              <a:t>0.90 times. This is consistent with draft-model overhead and eager-mode</a:t>
            </a:r>
          </a:p>
          <a:p>
            <a:r>
              <a:t>overhead, but the experiment does not measure their individual contributions.</a:t>
            </a:r>
          </a:p>
          <a:p/>
          <a:p>
            <a:r>
              <a:t>The correct conclusion is limited: EAGLE remains beneficial at concurrency</a:t>
            </a:r>
          </a:p>
          <a:p>
            <a:r>
              <a:t>sixteen on this specific model, GPU, and workload. It is not a universal</a:t>
            </a:r>
          </a:p>
          <a:p>
            <a:r>
              <a:t>statement about high-batch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brings together both engines at concurrency one and concurrency</a:t>
            </a:r>
          </a:p>
          <a:p>
            <a:r>
              <a:t>sixteen. The upper block is vLLM, the lower block is SGLang.</a:t>
            </a:r>
          </a:p>
          <a:p/>
          <a:p>
            <a:r>
              <a:t>For each method, we show output throughput, speedup relative to that engine's</a:t>
            </a:r>
          </a:p>
          <a:p>
            <a:r>
              <a:t>own autoregressive decoding, and accepted tokens per draft where vLLM exposes</a:t>
            </a:r>
          </a:p>
          <a:p>
            <a:r>
              <a:t>that counter. The full results file retains TTFT, TPOT, VRAM, and the</a:t>
            </a:r>
          </a:p>
          <a:p>
            <a:r>
              <a:t>full-precision values without forcing all of them into one slide.</a:t>
            </a:r>
          </a:p>
          <a:p/>
          <a:p>
            <a:r>
              <a:t>Taking the vLLM block first. At concurrency one, throughput increases from 40.2</a:t>
            </a:r>
          </a:p>
          <a:p>
            <a:r>
              <a:t>tokens per second for autoregressive decoding to 99.5 for EAGLE-3 with K equal</a:t>
            </a:r>
          </a:p>
          <a:p>
            <a:r>
              <a:t>to five. As K increases from one to five, the reported acceptance value rises</a:t>
            </a:r>
          </a:p>
          <a:p>
            <a:r>
              <a:t>from 0.76 to 2.05 accepted tokens per draft. Throughput rises alongside</a:t>
            </a:r>
          </a:p>
          <a:p>
            <a:r>
              <a:t>acceptance, but acceptance alone does not explain performance, because draft and</a:t>
            </a:r>
          </a:p>
          <a:p>
            <a:r>
              <a:t>verification costs also increase with K.</a:t>
            </a:r>
          </a:p>
          <a:p/>
          <a:p>
            <a:r>
              <a:t>Medusa provides a smaller improvement: 1.39 times at concurrency one and 1.12</a:t>
            </a:r>
          </a:p>
          <a:p>
            <a:r>
              <a:t>times at concurrency sixteen. Classical 1B moves from a small 1.05-times</a:t>
            </a:r>
          </a:p>
          <a:p>
            <a:r>
              <a:t>improvement at concurrency one to 0.90 times at concurrency sixteen.</a:t>
            </a:r>
          </a:p>
          <a:p/>
          <a:p>
            <a:r>
              <a:t>In the SGLang block, EAGLE-3 reports 2.24 times and adaptive decoding 2.36 times</a:t>
            </a:r>
          </a:p>
          <a:p>
            <a:r>
              <a:t>at concurrency one, and 1.40 and 1.49 times at concurrency sixteen, each</a:t>
            </a:r>
          </a:p>
          <a:p>
            <a:r>
              <a:t>relative to SGLang's own baseline.</a:t>
            </a:r>
          </a:p>
          <a:p/>
          <a:p>
            <a:r>
              <a:t>Three things to read carefully. The asterisks matter: the vLLM classical 1B and</a:t>
            </a:r>
          </a:p>
          <a:p>
            <a:r>
              <a:t>Medusa configurations used eager mode, which introduces a confounding</a:t>
            </a:r>
          </a:p>
          <a:p>
            <a:r>
              <a:t>difference. The acceptance column is vLLM-primary, because SGLang did not expose</a:t>
            </a:r>
          </a:p>
          <a:p>
            <a:r>
              <a:t>equivalent counters, so those cells are blank rather than zero. And Medusa on</a:t>
            </a:r>
          </a:p>
          <a:p>
            <a:r>
              <a:t>SGLang is reported as not available, since it is not listed in the 0.5.17</a:t>
            </a:r>
          </a:p>
          <a:p>
            <a:r>
              <a:t>documentation we used.</a:t>
            </a:r>
          </a:p>
          <a:p/>
          <a:p>
            <a:r>
              <a:t>Because every speedup is relative to its own engine's baseline, the two engines'</a:t>
            </a:r>
          </a:p>
          <a:p>
            <a:r>
              <a:t>absolute throughputs should not be compared directly.</a:t>
            </a:r>
          </a:p>
          <a:p/>
          <a:p>
            <a:r>
              <a:t>The table is useful for understanding the trend, but not the third decimal.</a:t>
            </a:r>
          </a:p>
          <a:p>
            <a:r>
              <a:t>Independent validation requires the raw results, the server commands, the logs,</a:t>
            </a:r>
          </a:p>
          <a:p>
            <a:r>
              <a:t>the warmup details, and repeated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configurations shown are separately configured fixed draft lengths, at</a:t>
            </a:r>
          </a:p>
          <a:p>
            <a:r>
              <a:t>K equal to one, three, and five, on the same EAGLE-3 checkpoint. SGLang's</a:t>
            </a:r>
          </a:p>
          <a:p>
            <a:r>
              <a:t>adaptive decoding adjusts its configuration at runtime, so it is not a point</a:t>
            </a:r>
          </a:p>
          <a:p>
            <a:r>
              <a:t>on this curve and we do not place it here.</a:t>
            </a:r>
          </a:p>
          <a:p/>
          <a:p>
            <a:r>
              <a:t>Acceptance rises with draft length: 0.76, 1.65, and 2.05 accepted tokens per</a:t>
            </a:r>
          </a:p>
          <a:p>
            <a:r>
              <a:t>draft step at K equal to one, three, and five.</a:t>
            </a:r>
          </a:p>
          <a:p/>
          <a:p>
            <a:r>
              <a:t>Speedup rises with it at both levels of load. At concurrency one, from 1.66 to</a:t>
            </a:r>
          </a:p>
          <a:p>
            <a:r>
              <a:t>2.22 to 2.48 times. At concurrency sixteen, from 1.45 to 1.79 to 2.01 times.</a:t>
            </a:r>
          </a:p>
          <a:p/>
          <a:p>
            <a:r>
              <a:t>Each pair of points on the chart is one configuration moving from concurrency</a:t>
            </a:r>
          </a:p>
          <a:p>
            <a:r>
              <a:t>one to concurrency sixteen. Every draft length loses some advantage under</a:t>
            </a:r>
          </a:p>
          <a:p>
            <a:r>
              <a:t>load, but none of them falls below the baseline.</a:t>
            </a:r>
          </a:p>
          <a:p/>
          <a:p>
            <a:r>
              <a:t>We did not test beyond K equal to five, so we cannot say from this experiment</a:t>
            </a:r>
          </a:p>
          <a:p>
            <a:r>
              <a:t>where the curve turns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accounting identity on this slide is a reminder, not a fitted decomposition.</a:t>
            </a:r>
          </a:p>
          <a:p>
            <a:r>
              <a:t>Speedup is accepted work divided by the combined cost of drafting and verifying.</a:t>
            </a:r>
          </a:p>
          <a:p/>
          <a:p>
            <a:r>
              <a:t>Draft quality shows up clearly in the vLLM counters. Medusa accepts 0.96 tokens</a:t>
            </a:r>
          </a:p>
          <a:p>
            <a:r>
              <a:t>per draft versus 2.05 for EAGLE at K=5, and their concurrency-one speedups are</a:t>
            </a:r>
          </a:p>
          <a:p>
            <a:r>
              <a:t>1.39× and 2.48×.</a:t>
            </a:r>
          </a:p>
          <a:p/>
          <a:p>
            <a:r>
              <a:t>Draft cost is the counterexample. Classical 1B accepts more tokens per draft</a:t>
            </a:r>
          </a:p>
          <a:p>
            <a:r>
              <a:t>(2.56) and still reports only 1.05× on eager-mode vLLM. High acceptance is not</a:t>
            </a:r>
          </a:p>
          <a:p>
            <a:r>
              <a:t>enough if the drafter itself is expensive.</a:t>
            </a:r>
          </a:p>
          <a:p/>
          <a:p>
            <a:r>
              <a:t>The serving stack matters for the same 1B draft: 1.05× on eager-mode vLLM versus</a:t>
            </a:r>
          </a:p>
          <a:p>
            <a:r>
              <a:t>1.90× on graph-enabled SGLang. That gap is confounded by graph mode, so we do</a:t>
            </a:r>
          </a:p>
          <a:p>
            <a:r>
              <a:t>not treat it as a pure algorithmic result.</a:t>
            </a:r>
          </a:p>
          <a:p/>
          <a:p>
            <a:r>
              <a:t>Offered load still leaves EAGLE above autoregressive decoding at concurrency</a:t>
            </a:r>
          </a:p>
          <a:p>
            <a:r>
              <a:t>sixteen, but the gains shrink because verification work grows with effective</a:t>
            </a:r>
          </a:p>
          <a:p>
            <a:r>
              <a:t>batch times K.</a:t>
            </a:r>
          </a:p>
          <a:p/>
          <a:p>
            <a:r>
              <a:t>These comparisons are consistent with those mechanisms. The experiment does not</a:t>
            </a:r>
          </a:p>
          <a:p>
            <a:r>
              <a:t>separately estimate each component’s causal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Conditional on this hardware, this model, and these two engines, the best</a:t>
            </a:r>
          </a:p>
          <a:p>
            <a:r>
              <a:t>observed choice is EAGLE on both stacks.</a:t>
            </a:r>
          </a:p>
          <a:p/>
          <a:p>
            <a:r>
              <a:t>At concurrency one, vLLM EAGLE-3 with K=5 reports 99.5 tokens per second, or</a:t>
            </a:r>
          </a:p>
          <a:p>
            <a:r>
              <a:t>2.48× the same-engine AR baseline. SGLang adaptive EAGLE reports 83.0 tokens</a:t>
            </a:r>
          </a:p>
          <a:p>
            <a:r>
              <a:t>per second, or 2.36×.</a:t>
            </a:r>
          </a:p>
          <a:p/>
          <a:p>
            <a:r>
              <a:t>At concurrency sixteen the ranking does not change. vLLM K=5 reports 831.5</a:t>
            </a:r>
          </a:p>
          <a:p>
            <a:r>
              <a:t>tokens per second (2.01×). SGLang adaptive reports 628.6 (1.49×).</a:t>
            </a:r>
          </a:p>
          <a:p/>
          <a:p>
            <a:r>
              <a:t>Do not generalize the vLLM classical or Medusa rows: both include eager-mode</a:t>
            </a:r>
          </a:p>
          <a:p>
            <a:r>
              <a:t>execution. Medusa is not available on SGLang 0.5.17 in the documentation we</a:t>
            </a:r>
          </a:p>
          <a:p>
            <a:r>
              <a:t>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trend, not the third decimal. This is one published run per</a:t>
            </a:r>
          </a:p>
          <a:p>
            <a:r>
              <a:t>configuration after warmup, with no error bars.</a:t>
            </a:r>
          </a:p>
          <a:p/>
          <a:p>
            <a:r>
              <a:t>What we measured is Llama-3.1-8B-Instruct on an NVIDIA L40 with 48 GB, BF16,</a:t>
            </a:r>
          </a:p>
          <a:p>
            <a:r>
              <a:t>greedy decoding at temperature zero, sixteen short prompts, vLLM 0.27.1 and</a:t>
            </a:r>
          </a:p>
          <a:p>
            <a:r>
              <a:t>SGLang 0.5.17.</a:t>
            </a:r>
          </a:p>
          <a:p/>
          <a:p>
            <a:r>
              <a:t>Outside this study: 70B or MoE models, A100 or H100, sampled decoding,</a:t>
            </a:r>
          </a:p>
          <a:p>
            <a:r>
              <a:t>production traffic, and statistical confidence intervals.</a:t>
            </a:r>
          </a:p>
          <a:p/>
          <a:p>
            <a:r>
              <a:t>The internal confound is that vLLM classical 1B and Medusa used eager mode</a:t>
            </a:r>
          </a:p>
          <a:p>
            <a:r>
              <a:t>while SGLang retained CUDA graphs. Acceptance analysis is also vLLM-primary</a:t>
            </a:r>
          </a:p>
          <a:p>
            <a:r>
              <a:t>because equivalent SGLang counters were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universal speculative-decoding speedup. Across the configurations</a:t>
            </a:r>
          </a:p>
          <a:p>
            <a:r>
              <a:t>we published, the project-reported range is 2.48× to 0.90×.</a:t>
            </a:r>
          </a:p>
          <a:p/>
          <a:p>
            <a:r>
              <a:t>Ranking: EAGLE-3 is first on both engines at concurrency one and remains first</a:t>
            </a:r>
          </a:p>
          <a:p>
            <a:r>
              <a:t>at concurrency sixteen.</a:t>
            </a:r>
          </a:p>
          <a:p/>
          <a:p>
            <a:r>
              <a:t>Load: EAGLE gains shrink but remain positive at concurrency sixteen on this</a:t>
            </a:r>
          </a:p>
          <a:p>
            <a:r>
              <a:t>L40. The often-cited batch crossover did not occur for EAGLE here; it did</a:t>
            </a:r>
          </a:p>
          <a:p>
            <a:r>
              <a:t>occur for eager-mode vLLM classical speculation.</a:t>
            </a:r>
          </a:p>
          <a:p/>
          <a:p>
            <a:r>
              <a:t>Attribution: acceptance, draft cost, graph mode, checkpoint, and engine</a:t>
            </a:r>
          </a:p>
          <a:p>
            <a:r>
              <a:t>implementation all matter.</a:t>
            </a:r>
          </a:p>
          <a:p/>
          <a:p>
            <a:r>
              <a:t>A useful serving claim names the draft method, the engine, the hardware, and</a:t>
            </a:r>
          </a:p>
          <a:p>
            <a:r>
              <a:t>the offered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measurements live in results/table_latest.json. The shared client is</a:t>
            </a:r>
          </a:p>
          <a:p>
            <a:r>
              <a:t>bench/run.py. Server settings are in configs/. Every published cell completed</a:t>
            </a:r>
          </a:p>
          <a:p>
            <a:r>
              <a:t>16 of 16 requests. The code and published table are at</a:t>
            </a:r>
          </a:p>
          <a:p>
            <a:r>
              <a:t>https://github.com/bharaththiruveedula/benchmark-speculative-decoding</a:t>
            </a:r>
          </a:p>
          <a:p/>
          <a:p>
            <a:r>
              <a:t>Independent verification still needs raw logs, the exact warmup trace, and</a:t>
            </a:r>
          </a:p>
          <a:p>
            <a:r>
              <a:t>repeated runs.</a:t>
            </a:r>
          </a:p>
          <a:p/>
          <a:p>
            <a:r>
              <a:t>The architecture citations are Leviathan et al. for speculative decoding,</a:t>
            </a:r>
          </a:p>
          <a:p>
            <a:r>
              <a:t>Cai et al. for Medusa, and Li et al. for EAGLE-3, plus the vLLM and SGLang</a:t>
            </a:r>
          </a:p>
          <a:p>
            <a:r>
              <a:t>speculative-decoding docs and the NVIDIA L40 specifications.</a:t>
            </a:r>
          </a:p>
          <a:p/>
          <a:p>
            <a:r>
              <a:t>Benchmark values are project-reported. Hardware and method statements are tied</a:t>
            </a:r>
          </a:p>
          <a:p>
            <a:r>
              <a:t>to those primary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247774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599C950-0CDD-A035-08FD-C97C2EA2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4AAB63-BA0D-1EFC-E588-07C011145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ABC10CF-4DF4-AB0D-7ECE-A28A5589B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CF270B-CF5E-9E77-5076-42112E765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64A62F6-9C8C-4AF8-2097-9E4778C64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FDDF1D8-13EC-9DA1-34E9-C1C120DC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8" Type="http://schemas.openxmlformats.org/officeDocument/2006/relationships/image" Target="../media/image2.jp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3.xml"/><Relationship Id="rId8" Type="http://schemas.openxmlformats.org/officeDocument/2006/relationships/image" Target="../media/image3.jp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4.xml"/><Relationship Id="rId8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2496"/>
            <a:ext cx="8229600" cy="295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7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github.com/bharaththiruveedula/benchmark-speculative-decoding" TargetMode="Externa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Bharath Thiruveedula · Abhishek Kumar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Scalable Machine Learning,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>
                <a:latin typeface="Arial Black" charset="0"/>
              </a:rPr>
              <a:t>August </a:t>
            </a:r>
            <a:r>
              <a:rPr lang="en-US" sz="1200" cap="all">
                <a:latin typeface="Arial Black" charset="0"/>
              </a:rPr>
              <a:t>2026</a:t>
            </a:r>
            <a:endParaRPr lang="en-US" sz="1200" b="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sz="4200"/>
              <a:t>Speculative decoding</a:t>
            </a:r>
            <a:br>
              <a:rPr lang="en-US" dirty="0" sz="4200"/>
            </a:br>
            <a:r>
              <a:rPr lang="en-US" dirty="0" sz="4200"/>
              <a:t>under production</a:t>
            </a:r>
            <a:br>
              <a:rPr lang="en-US" dirty="0" sz="4200"/>
            </a:br>
            <a:r>
              <a:rPr lang="en-US" dirty="0" sz="4200"/>
              <a:t>serving stacks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Does the fastest draft method stay fastest when engine and load change?</a:t>
            </a:r>
            <a:br>
              <a:rPr lang="en-US" dirty="0"/>
            </a:br>
            <a:r>
              <a:rPr lang="en-US" dirty="0"/>
              <a:t>Project-reported range: 2.48× to 0.90×  ·  Llama-3.1-8B  ·  NVIDIA L40  ·  vLLM + SGLang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402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One token commits before the next step can start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MOTIVATION  ·  THE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72768"/>
            <a:ext cx="8229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F48"/>
                </a:solidFill>
                <a:latin typeface="Calibri"/>
              </a:rPr>
              <a:t>KV caching avoids recomputing the prompt, but it does not remove the token-to-token dependency.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29968"/>
            <a:ext cx="13258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84831"/>
            <a:ext cx="1325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F48"/>
                </a:solidFill>
                <a:latin typeface="Calibri"/>
              </a:rPr>
              <a:t>Forward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50592"/>
            <a:ext cx="1325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Target · 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99232"/>
            <a:ext cx="1325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F5700"/>
                </a:solidFill>
                <a:latin typeface="Calibri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4792" y="2267712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029968"/>
            <a:ext cx="13258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084831"/>
            <a:ext cx="1325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F48"/>
                </a:solidFill>
                <a:latin typeface="Calibri"/>
              </a:rPr>
              <a:t>Forward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50592"/>
            <a:ext cx="1325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Target · 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999232"/>
            <a:ext cx="1325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F5700"/>
                </a:solidFill>
                <a:latin typeface="Calibri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267712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29968"/>
            <a:ext cx="13258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084831"/>
            <a:ext cx="1325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F48"/>
                </a:solidFill>
                <a:latin typeface="Calibri"/>
              </a:rPr>
              <a:t>Forward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450592"/>
            <a:ext cx="1325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Target · 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999232"/>
            <a:ext cx="1325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F5700"/>
                </a:solidFill>
                <a:latin typeface="Calibri"/>
              </a:rPr>
              <a:t>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2267712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029968"/>
            <a:ext cx="13258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2084831"/>
            <a:ext cx="1325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F48"/>
                </a:solidFill>
                <a:latin typeface="Calibri"/>
              </a:rPr>
              <a:t>Forward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450592"/>
            <a:ext cx="1325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Target · 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999232"/>
            <a:ext cx="1325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F5700"/>
                </a:solidFill>
                <a:latin typeface="Calibri"/>
              </a:rPr>
              <a:t>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2267712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2029968"/>
            <a:ext cx="13258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2084831"/>
            <a:ext cx="13258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56B"/>
                </a:solidFill>
                <a:latin typeface="Calibri"/>
              </a:rPr>
              <a:t>Forward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450592"/>
            <a:ext cx="1325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Target · 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999232"/>
            <a:ext cx="13258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56B"/>
                </a:solidFill>
                <a:latin typeface="Calibri"/>
              </a:rPr>
              <a:t>tn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56B"/>
                </a:solidFill>
                <a:latin typeface="Calibri"/>
              </a:rPr>
              <a:t>Step i+1 cannot begin until token i is known. One full 8B target step per subsequent token.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22191"/>
            <a:ext cx="8229600" cy="8229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50208"/>
            <a:ext cx="78638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3F48"/>
                </a:solidFill>
                <a:latin typeface="Calibri"/>
              </a:rPr>
              <a:t>Speculation tries to amortize that expensive target-model step across several candidate tokens.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Draft several; verify together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BACKGROUND  ·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27632"/>
            <a:ext cx="265176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2651760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755648"/>
            <a:ext cx="239572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5700"/>
                </a:solidFill>
                <a:latin typeface="Calibri"/>
              </a:rPr>
              <a:t>01  · 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011680"/>
            <a:ext cx="2395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F48"/>
                </a:solidFill>
                <a:latin typeface="Calibri"/>
              </a:rPr>
              <a:t>Propose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395728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A cheaper mechanism predicts several candidate tokens ahead of the confirmed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331720"/>
            <a:ext cx="292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27632"/>
            <a:ext cx="265176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27632"/>
            <a:ext cx="2651760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755648"/>
            <a:ext cx="239572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5700"/>
                </a:solidFill>
                <a:latin typeface="Calibri"/>
              </a:rPr>
              <a:t>02  · 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011680"/>
            <a:ext cx="2395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F48"/>
                </a:solidFill>
                <a:latin typeface="Calibri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395728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The 8B model scores the candidate positions together in one verification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331720"/>
            <a:ext cx="292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27632"/>
            <a:ext cx="265176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627632"/>
            <a:ext cx="2651760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755648"/>
            <a:ext cx="2395728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5700"/>
                </a:solidFill>
                <a:latin typeface="Calibri"/>
              </a:rPr>
              <a:t>03  ·  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011680"/>
            <a:ext cx="239572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F48"/>
                </a:solidFill>
                <a:latin typeface="Calibri"/>
              </a:rPr>
              <a:t>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395728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Accept the matching prefix; reject from the first mismatch and continue with the target prediction.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114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Correctness.  With the exact acceptance procedure, the target model’s output distribution is preserved.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657600"/>
            <a:ext cx="3931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Trade-off.  The speedup must repay the cost of the drafter and the larger verification step.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56B"/>
                </a:solidFill>
                <a:latin typeface="Calibri"/>
              </a:rPr>
              <a:t>Leviathan et al., ICML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The drafter changes; the target does not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METHODS  ·  FOUR MECHANISMS, ONE 8B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9344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9344"/>
            <a:ext cx="73152" cy="100584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3794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AR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75104"/>
            <a:ext cx="3794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VLLM + SGLANG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76272"/>
            <a:ext cx="3794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8"/>
                </a:solidFill>
                <a:latin typeface="Calibri"/>
              </a:rPr>
              <a:t>No drafter. The 8B target generates one token at a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609344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609344"/>
            <a:ext cx="73152" cy="100584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1682496"/>
            <a:ext cx="3794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Classical 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975104"/>
            <a:ext cx="3794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VLLM + SGLANG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176272"/>
            <a:ext cx="3794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8"/>
                </a:solidFill>
                <a:latin typeface="Calibri"/>
              </a:rPr>
              <a:t>A separate Llama-3.2-1B model drafts sequentially; the 8B target verifies.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24912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24912"/>
            <a:ext cx="73152" cy="100584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98064"/>
            <a:ext cx="3794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Medusa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90672"/>
            <a:ext cx="3794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VLLM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91840"/>
            <a:ext cx="3794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8"/>
                </a:solidFill>
                <a:latin typeface="Calibri"/>
              </a:rPr>
              <a:t>Additional heads predict future-token candidates in parallel; continuations use tree-based verification.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724912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724912"/>
            <a:ext cx="73152" cy="100584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2798064"/>
            <a:ext cx="3794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EAGLE-3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090672"/>
            <a:ext cx="3794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VLLM + SGLANG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291840"/>
            <a:ext cx="3794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8"/>
                </a:solidFill>
                <a:latin typeface="Calibri"/>
              </a:rPr>
              <a:t>A specialized module performs direct token prediction using multi-layer target-model features.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13632"/>
            <a:ext cx="4114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vLLM ablation: fixed draft lengths K = 1, 3, 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913632"/>
            <a:ext cx="3931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SGLang adaptive: a distinct acceptance-driven policy; not pooled with the vLLM grid.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56B"/>
                </a:solidFill>
                <a:latin typeface="Calibri"/>
              </a:rPr>
              <a:t>Medusa is N/A on SGLang (not listed in 0.5.17 docs). EAGLE-3 checkpoints are engine-specific and were not mixed.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One workload; two independent servers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EXPERIMENTAL SETUP  ·  MEASUREMENT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9344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9344"/>
            <a:ext cx="2651760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737360"/>
            <a:ext cx="23957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956816"/>
            <a:ext cx="23957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16 technical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432304"/>
            <a:ext cx="23957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56B"/>
                </a:solidFill>
                <a:latin typeface="Calibri"/>
              </a:rPr>
              <a:t>Greedy  ·  T=0  ·  max 256 new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9232" y="2084831"/>
            <a:ext cx="292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09344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09344"/>
            <a:ext cx="2651760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737360"/>
            <a:ext cx="23957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SHARED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956816"/>
            <a:ext cx="23957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Llama-3.1-8B-Instruct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432304"/>
            <a:ext cx="23957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56B"/>
                </a:solidFill>
                <a:latin typeface="Calibri"/>
              </a:rPr>
              <a:t>BF16  ·  ctx 4096  ·  NVIDIA L40, 48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084831"/>
            <a:ext cx="2926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570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09344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609344"/>
            <a:ext cx="2651760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737360"/>
            <a:ext cx="23957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SERVING STACKS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956816"/>
            <a:ext cx="23957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vLLM 0.27.1 + SGLang 0.5.17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432304"/>
            <a:ext cx="23957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56B"/>
                </a:solidFill>
                <a:latin typeface="Calibri"/>
              </a:rPr>
              <a:t>One process at a time  ·  c=1 and c=16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72384"/>
            <a:ext cx="201168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6B"/>
                </a:solidFill>
                <a:latin typeface="Calibri"/>
              </a:rPr>
              <a:t>PRIMARY 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10128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F48"/>
                </a:solidFill>
                <a:latin typeface="Calibri"/>
              </a:rPr>
              <a:t>Output tokens/s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78608" y="3072384"/>
            <a:ext cx="201168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3108960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6B"/>
                </a:solidFill>
                <a:latin typeface="Calibri"/>
              </a:rPr>
              <a:t>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310128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F48"/>
                </a:solidFill>
                <a:latin typeface="Calibri"/>
              </a:rPr>
              <a:t>TTFT + TPOT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0016" y="3072384"/>
            <a:ext cx="201168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5" y="3108960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6B"/>
                </a:solidFill>
                <a:latin typeface="Calibri"/>
              </a:rPr>
              <a:t>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455" y="3310128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F48"/>
                </a:solidFill>
                <a:latin typeface="Calibri"/>
              </a:rPr>
              <a:t>Peak VRAM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1423" y="3072384"/>
            <a:ext cx="201168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3" y="3108960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6B"/>
                </a:solidFill>
                <a:latin typeface="Calibri"/>
              </a:rPr>
              <a:t>DRAFT 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3" y="3310128"/>
            <a:ext cx="1828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F48"/>
                </a:solidFill>
                <a:latin typeface="Calibri"/>
              </a:rPr>
              <a:t>vLLM accept counters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22191"/>
            <a:ext cx="8229600" cy="841248"/>
          </a:xfrm>
          <a:prstGeom prst="rect">
            <a:avLst/>
          </a:prstGeom>
          <a:solidFill>
            <a:srgbClr val="333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13632"/>
            <a:ext cx="786384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Known asymmetry: vLLM classical 1B and Medusa ran with --enforce-eager after CUDA-graph capture aborted; SGLang retained graphs. Every speedup is versus the same engine’s AR baseline.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Fixed model; real serving-stack differences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COMPARISON DESIGN  ·  WHAT THE EXPERIMENT CAN ISOLATE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9344"/>
            <a:ext cx="40690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9344"/>
            <a:ext cx="4069080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37033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F48"/>
                </a:solidFill>
                <a:latin typeface="Calibri"/>
              </a:rPr>
              <a:t>Held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57984"/>
            <a:ext cx="3703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F48"/>
                </a:solidFill>
                <a:latin typeface="Calibri"/>
              </a:rPr>
              <a:t>Target: Llama-3.1-8B-Instruct weights + tokenizer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333F48"/>
                </a:solidFill>
                <a:latin typeface="Calibri"/>
              </a:rPr>
              <a:t>Workload: same prompts, decoding, GPU, and loads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333F48"/>
                </a:solidFill>
                <a:latin typeface="Calibri"/>
              </a:rPr>
              <a:t>Measurement: shared client and metric definitions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609344"/>
            <a:ext cx="397763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1609344"/>
            <a:ext cx="3977639" cy="7315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755648"/>
            <a:ext cx="3657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F48"/>
                </a:solidFill>
                <a:latin typeface="Calibri"/>
              </a:rPr>
              <a:t>Engine-specific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157984"/>
            <a:ext cx="3657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F48"/>
                </a:solidFill>
                <a:latin typeface="Calibri"/>
              </a:rPr>
              <a:t>Execution: scheduler, kernels, CUDA graphs, memory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333F48"/>
                </a:solidFill>
                <a:latin typeface="Calibri"/>
              </a:rPr>
              <a:t>Coverage: which speculative methods each engine exposes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333F48"/>
                </a:solidFill>
                <a:latin typeface="Calibri"/>
              </a:rPr>
              <a:t>Artifacts: legal EAGLE-3 checkpoint and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95344"/>
            <a:ext cx="8229600" cy="749808"/>
          </a:xfrm>
          <a:prstGeom prst="rect">
            <a:avLst/>
          </a:prstGeom>
          <a:solidFill>
            <a:srgbClr val="333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78638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This is an end-to-end serving comparison, not a controlled engine-only experiment. Similar rankings support, but do not prove, an algorithmic advantage.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EAGLE-3 leads on both engines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RESULT  ·  CONCURRENCY 1  ·  PROJECT-REPORTED  ·  NVIDIA L40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EAGLE-3  ·  K=5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792224"/>
            <a:ext cx="5074920" cy="256032"/>
          </a:xfrm>
          <a:prstGeom prst="rect">
            <a:avLst/>
          </a:prstGeom>
          <a:solidFill>
            <a:srgbClr val="D6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792224"/>
            <a:ext cx="5034320" cy="25603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084832"/>
            <a:ext cx="5074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0×          AR 1×                                      2.5×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627632"/>
            <a:ext cx="1463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F5700"/>
                </a:solidFill>
                <a:latin typeface="Calibri"/>
              </a:rPr>
              <a:t>2.48×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87752"/>
            <a:ext cx="1417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SGLang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EAGLE-3  ·  adaptive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752344"/>
            <a:ext cx="5074920" cy="256032"/>
          </a:xfrm>
          <a:prstGeom prst="rect">
            <a:avLst/>
          </a:prstGeom>
          <a:solidFill>
            <a:srgbClr val="D6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0" y="2752344"/>
            <a:ext cx="4790724" cy="25603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3044952"/>
            <a:ext cx="5074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0×          AR 1×                                      2.5×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587752"/>
            <a:ext cx="1463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BF5700"/>
                </a:solidFill>
                <a:latin typeface="Calibri"/>
              </a:rPr>
              <a:t>2.36×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4069080" cy="96012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703320"/>
            <a:ext cx="3794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Closest cross-engine comparison: EAGLE-3 K=3 reports 2.22× on vLLM and 2.24× on SGLang.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3611880"/>
            <a:ext cx="3977639" cy="96012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5464" y="3703320"/>
            <a:ext cx="37033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Engine-sensitive case: classical 1B reports 1.05× on eager-mode vLLM versus 1.90× on graph-enabled SGLang.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EAGLE still wins; one configuration regresses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RESULT  ·  CONCURRENCY 16  ·  PROJECT-REPORTED  ·  NVIDIA L40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72768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554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EAGLE-3  ·  K=5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719072"/>
            <a:ext cx="4937760" cy="219456"/>
          </a:xfrm>
          <a:prstGeom prst="rect">
            <a:avLst/>
          </a:prstGeom>
          <a:solidFill>
            <a:srgbClr val="D6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03120" y="1719072"/>
            <a:ext cx="3969959" cy="219456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572768"/>
            <a:ext cx="1508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F5700"/>
                </a:solidFill>
                <a:latin typeface="Calibri"/>
              </a:rPr>
              <a:t>2.01×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2576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SGLang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8608"/>
            <a:ext cx="1554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EAGLE-3  ·  adaptive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468880"/>
            <a:ext cx="4937760" cy="219456"/>
          </a:xfrm>
          <a:prstGeom prst="rect">
            <a:avLst/>
          </a:prstGeom>
          <a:solidFill>
            <a:srgbClr val="D6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03120" y="2468880"/>
            <a:ext cx="2942904" cy="219456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322576"/>
            <a:ext cx="1508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F5700"/>
                </a:solidFill>
                <a:latin typeface="Calibri"/>
              </a:rPr>
              <a:t>1.49×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4"/>
            <a:ext cx="1554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vLLM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28415"/>
            <a:ext cx="1554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Classical 1B  ·  eager*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218688"/>
            <a:ext cx="4937760" cy="219456"/>
          </a:xfrm>
          <a:prstGeom prst="rect">
            <a:avLst/>
          </a:prstGeom>
          <a:solidFill>
            <a:srgbClr val="D6D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3120" y="3218688"/>
            <a:ext cx="1777593" cy="219456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072384"/>
            <a:ext cx="1508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B2C2C"/>
                </a:solidFill>
                <a:latin typeface="Calibri"/>
              </a:rPr>
              <a:t>0.90×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58768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The often-cited batch crossover did not occur for EAGLE at concurrency 16 on this L40; it did occur for eager-mode vLLM classical speculation. Throughput: 831.5 tok/s (vLLM K=5) and 628.6 tok/s (SGLang adaptive).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F48"/>
                </a:solidFill>
                <a:latin typeface="Calibri"/>
              </a:rPr>
              <a:t>The ranking is clear; the magnitude is stack-dependent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RESULT  ·  FULL MATRIX  ·  PROJECT-REPORTED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tok/s = output throughput    ·    ×AR = same-engine speedup    ·    accept = vLLM mean accepted tokens/draft, c=1 / c=16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73936"/>
          <a:ext cx="82296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960120"/>
                <a:gridCol w="1280160"/>
                <a:gridCol w="960120"/>
                <a:gridCol w="2103120"/>
              </a:tblGrid>
              <a:tr h="22468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vLLM 0.27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c=1 tok/s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×AR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c=16 tok/s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×AR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AR baseline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40.2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413.7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Classical 1B*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42.3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373.6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9B2C2C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2.56 / 2.69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Medusa*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55.9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1.39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463.7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0.96 / 0.94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EAGLE-3 K=1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66.8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1.66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600.3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0.76 / 0.75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</a:tr>
              <a:tr h="22468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EAGLE-3 K=3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89.1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2.22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741.9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1.79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1.65 / 1.62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EAGLE-3 K=5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99.5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2.48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831.5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2.01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2.05 / 2.07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401568"/>
          <a:ext cx="822960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960120"/>
                <a:gridCol w="1280160"/>
                <a:gridCol w="960120"/>
                <a:gridCol w="2103120"/>
              </a:tblGrid>
              <a:tr h="2164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SGLang 0.5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c=1 tok/s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×AR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c=16 tok/s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×AR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45720" marR="45720" marT="27432" marB="27432">
                    <a:solidFill>
                      <a:srgbClr val="BF5700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AR baseline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35.1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421.0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Classical 1B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66.9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505.5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Medusa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not in 0.5.17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EAGLE-3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78.6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2.24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589.7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1.40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7F4E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6110D"/>
                          </a:solidFill>
                          <a:latin typeface="Calibri"/>
                        </a:rPr>
                        <a:t>EAGLE adaptive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83.0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2.36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628.6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F5700"/>
                          </a:solidFill>
                          <a:latin typeface="Calibri"/>
                        </a:rPr>
                        <a:t>1.49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611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18304"/>
            <a:ext cx="82296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56B"/>
                </a:solidFill>
                <a:latin typeface="Calibri"/>
              </a:rPr>
              <a:t>*eager. Acceptance is vLLM-primary; blanks are unavailable, not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Longer drafts helped through K=5 on this grid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RESULT  ·  EAGLE-3 FIXED-K ABLATION  ·  VLLM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9344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700784"/>
            <a:ext cx="23591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K=1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121408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0.76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542032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accepted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21408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1.66×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42032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c=1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21408"/>
            <a:ext cx="685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1.45×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42032"/>
            <a:ext cx="685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c=16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09344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700784"/>
            <a:ext cx="23591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K=3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2121408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1.65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2542032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accepted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21408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2.22×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542032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c=1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21408"/>
            <a:ext cx="685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1.79×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42032"/>
            <a:ext cx="685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c=16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609344"/>
            <a:ext cx="2651760" cy="1554480"/>
          </a:xfrm>
          <a:prstGeom prst="rect">
            <a:avLst/>
          </a:prstGeom>
          <a:solidFill>
            <a:srgbClr val="FFFFFF"/>
          </a:solidFill>
          <a:ln w="22225">
            <a:solidFill>
              <a:srgbClr val="BF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700784"/>
            <a:ext cx="23591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F5700"/>
                </a:solidFill>
                <a:latin typeface="Calibri"/>
              </a:rPr>
              <a:t>K=5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2121408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2.05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2542032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accepted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121408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2.48×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542032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c=1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121408"/>
            <a:ext cx="685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F48"/>
                </a:solidFill>
                <a:latin typeface="Calibri"/>
              </a:rPr>
              <a:t>2.01×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542032"/>
            <a:ext cx="685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6B"/>
                </a:solidFill>
                <a:latin typeface="Calibri"/>
              </a:rPr>
              <a:t>c=16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73552"/>
            <a:ext cx="8229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56B"/>
                </a:solidFill>
                <a:latin typeface="Calibri"/>
              </a:rPr>
              <a:t>Speedup versus vLLM AR   ·   light = c=1, solid = c=16   ·   dashed line = AR 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47872"/>
            <a:ext cx="82296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2186" y="3621024"/>
            <a:ext cx="18288" cy="877824"/>
          </a:xfrm>
          <a:prstGeom prst="rect">
            <a:avLst/>
          </a:prstGeom>
          <a:solidFill>
            <a:srgbClr val="5B6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657600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8"/>
                </a:solidFill>
                <a:latin typeface="Calibri"/>
              </a:rPr>
              <a:t>K=1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712463"/>
            <a:ext cx="3766650" cy="91440"/>
          </a:xfrm>
          <a:prstGeom prst="rect">
            <a:avLst/>
          </a:prstGeom>
          <a:solidFill>
            <a:srgbClr val="D6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03120" y="3803904"/>
            <a:ext cx="3290146" cy="9144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31920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8"/>
                </a:solidFill>
                <a:latin typeface="Calibri"/>
              </a:rPr>
              <a:t>K=3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3986783"/>
            <a:ext cx="5037328" cy="91440"/>
          </a:xfrm>
          <a:prstGeom prst="rect">
            <a:avLst/>
          </a:prstGeom>
          <a:solidFill>
            <a:srgbClr val="D6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03120" y="4078224"/>
            <a:ext cx="4061629" cy="9144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206240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8"/>
                </a:solidFill>
                <a:latin typeface="Calibri"/>
              </a:rPr>
              <a:t>K=5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4261103"/>
            <a:ext cx="5627285" cy="91440"/>
          </a:xfrm>
          <a:prstGeom prst="rect">
            <a:avLst/>
          </a:prstGeom>
          <a:solidFill>
            <a:srgbClr val="D6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03120" y="4352544"/>
            <a:ext cx="4560824" cy="9144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60857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56B"/>
                </a:solidFill>
                <a:latin typeface="Calibri"/>
              </a:rPr>
              <a:t>Fixed K values are separate vLLM configurations. SGLang adaptive is not a point on this curve. K&gt;5 was not tested.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Acceptance helps; total cost decides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WHY  ·  QUALIFIED INTERPRETATIONS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72768"/>
            <a:ext cx="822960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00784"/>
            <a:ext cx="786384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F48"/>
                </a:solidFill>
                <a:latin typeface="Calibri"/>
              </a:rPr>
              <a:t>speedup  =  accepted work  /  (draft cost + verification cost)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40864"/>
            <a:ext cx="41148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414016"/>
            <a:ext cx="382219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5700"/>
                </a:solidFill>
                <a:latin typeface="Calibri"/>
              </a:rPr>
              <a:t>DRAFT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670048"/>
            <a:ext cx="3822191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Medusa accepts 0.96 tokens/draft versus 2.05 for EAGLE K=5; their c=1 speedups are 1.39× and 2.48×.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340864"/>
            <a:ext cx="41148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14016"/>
            <a:ext cx="382219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5700"/>
                </a:solidFill>
                <a:latin typeface="Calibri"/>
              </a:rPr>
              <a:t>DRAFT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1184" y="2670048"/>
            <a:ext cx="3822191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Classical 1B accepts more (2.56) yet reports only 1.05× on eager-mode vLLM. High acceptance alone is insufficient.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19856"/>
            <a:ext cx="41148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3493008"/>
            <a:ext cx="382219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5700"/>
                </a:solidFill>
                <a:latin typeface="Calibri"/>
              </a:rPr>
              <a:t>SERVING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749040"/>
            <a:ext cx="3822191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The same 1B draft reports 1.05× on eager-mode vLLM and 1.90× on graph-enabled SGLang; this gap is confounded.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419856"/>
            <a:ext cx="41148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3493008"/>
            <a:ext cx="3822191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5700"/>
                </a:solidFill>
                <a:latin typeface="Calibri"/>
              </a:rPr>
              <a:t>OFFERED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3749040"/>
            <a:ext cx="3822191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EAGLE remains above AR at c=16, but gains shrink as verification work grows with effective batch × 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35424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56B"/>
                </a:solidFill>
                <a:latin typeface="Calibri"/>
              </a:rPr>
              <a:t>Consistent with those mechanisms; the experiment does not separately estimate each component’s causal contribution.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The best observed choice depends on engine and load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SERVING IMPLICATIONS  ·  CONDITIONAL ON THIS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9344"/>
            <a:ext cx="2743200" cy="420624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64208"/>
            <a:ext cx="27432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609344"/>
            <a:ext cx="2743200" cy="420624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664208"/>
            <a:ext cx="27432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VLLM 0.27.1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09344"/>
            <a:ext cx="2743200" cy="420624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664208"/>
            <a:ext cx="27432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SGLANG 0.5.17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2743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22576"/>
            <a:ext cx="274320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F48"/>
                </a:solidFill>
                <a:latin typeface="Calibri"/>
              </a:rPr>
              <a:t>c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29968"/>
            <a:ext cx="2743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176272"/>
            <a:ext cx="252374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EAGLE-3, K=5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560320"/>
            <a:ext cx="25237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56B"/>
                </a:solidFill>
                <a:latin typeface="Calibri"/>
              </a:rPr>
              <a:t>99.5 tok/s  ·  2.48× 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029968"/>
            <a:ext cx="2743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176272"/>
            <a:ext cx="252374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EAGLE adaptive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560320"/>
            <a:ext cx="25237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56B"/>
                </a:solidFill>
                <a:latin typeface="Calibri"/>
              </a:rPr>
              <a:t>83.0 tok/s  ·  2.36× 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81528"/>
            <a:ext cx="2743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74136"/>
            <a:ext cx="274320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F48"/>
                </a:solidFill>
                <a:latin typeface="Calibri"/>
              </a:rPr>
              <a:t>c =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081528"/>
            <a:ext cx="2743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3227832"/>
            <a:ext cx="252374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EAGLE-3, K=5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611880"/>
            <a:ext cx="25237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56B"/>
                </a:solidFill>
                <a:latin typeface="Calibri"/>
              </a:rPr>
              <a:t>831.5 tok/s  ·  2.01× 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81528"/>
            <a:ext cx="27432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3227832"/>
            <a:ext cx="252374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3F48"/>
                </a:solidFill>
                <a:latin typeface="Calibri"/>
              </a:rPr>
              <a:t>EAGLE adaptive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611880"/>
            <a:ext cx="252374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56B"/>
                </a:solidFill>
                <a:latin typeface="Calibri"/>
              </a:rPr>
              <a:t>628.6 tok/s  ·  1.49× 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87952"/>
            <a:ext cx="8229600" cy="475488"/>
          </a:xfrm>
          <a:prstGeom prst="rect">
            <a:avLst/>
          </a:prstGeom>
          <a:solidFill>
            <a:srgbClr val="333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261104"/>
            <a:ext cx="7955279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 not generalize the vLLM classical or Medusa rows: both include eager-mode execution. Medusa is N/A on SGLang.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Read the trend, not the third decimal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LIMITATIONS  ·  SCOPE OF THE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9344"/>
            <a:ext cx="8229600" cy="640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19072"/>
            <a:ext cx="786384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56B"/>
                </a:solidFill>
                <a:latin typeface="Calibri"/>
              </a:rPr>
              <a:t>Outside this study: 70B or MoE models  ·  A100/H100  ·  sampled decoding  ·  production traffic  ·  confidence intervals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59152"/>
            <a:ext cx="8229600" cy="1097280"/>
          </a:xfrm>
          <a:prstGeom prst="rect">
            <a:avLst/>
          </a:prstGeom>
          <a:solidFill>
            <a:srgbClr val="FFFFFF"/>
          </a:solidFill>
          <a:ln w="22225">
            <a:solidFill>
              <a:srgbClr val="BF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7863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F5700"/>
                </a:solidFill>
                <a:latin typeface="Calibri"/>
              </a:rPr>
              <a:t>What was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61488"/>
            <a:ext cx="78638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F48"/>
                </a:solidFill>
                <a:latin typeface="Calibri"/>
              </a:rPr>
              <a:t>Llama-3.1-8B-Instruct  ·  NVIDIA L40, 48 GB  ·  BF16  ·  greedy T=0  ·  16 short prompts  ·  vLLM 0.27.1 + SGLang 0.5.17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21024"/>
            <a:ext cx="26517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712463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F48"/>
                </a:solidFill>
                <a:latin typeface="Calibri"/>
              </a:rPr>
              <a:t>Statistical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86784"/>
            <a:ext cx="239572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8"/>
                </a:solidFill>
                <a:latin typeface="Calibri"/>
              </a:rPr>
              <a:t>One published run per configuration after warmup; no error bars.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621024"/>
            <a:ext cx="26517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3712463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F48"/>
                </a:solidFill>
                <a:latin typeface="Calibri"/>
              </a:rPr>
              <a:t>Internal confound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3986784"/>
            <a:ext cx="239572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8"/>
                </a:solidFill>
                <a:latin typeface="Calibri"/>
              </a:rPr>
              <a:t>vLLM 1B and Medusa used eager mode; SGLang retained graphs.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621024"/>
            <a:ext cx="26517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3712463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F48"/>
                </a:solidFill>
                <a:latin typeface="Calibri"/>
              </a:rPr>
              <a:t>Asymmetric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986784"/>
            <a:ext cx="239572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8"/>
                </a:solidFill>
                <a:latin typeface="Calibri"/>
              </a:rPr>
              <a:t>Acceptance analysis is vLLM-primary because equivalent counters were unavailable.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There is no universal speculative-decoding speedup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CONCLUSIONS  ·  ANSWERS TO THE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194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BF5700"/>
                </a:solidFill>
                <a:latin typeface="Calibri"/>
              </a:rPr>
              <a:t>2.48×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56B"/>
                </a:solidFill>
                <a:latin typeface="Calibri"/>
              </a:rPr>
              <a:t>BEST OBSERVED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92024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656B"/>
                </a:solidFill>
                <a:latin typeface="Calibri"/>
              </a:rPr>
              <a:t>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9B2C2C"/>
                </a:solidFill>
                <a:latin typeface="Calibri"/>
              </a:rPr>
              <a:t>0.90×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286000"/>
            <a:ext cx="20116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56B"/>
                </a:solidFill>
                <a:latin typeface="Calibri"/>
              </a:rPr>
              <a:t>WORST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F48"/>
                </a:solidFill>
                <a:latin typeface="Calibri"/>
              </a:rPr>
              <a:t>Ranking:  EAGLE-3 is first on both engines at c=1 and remains first at c=16.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82296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F48"/>
                </a:solidFill>
                <a:latin typeface="Calibri"/>
              </a:rPr>
              <a:t>Load:  EAGLE gains shrink but remain positive at c=16 on this L40.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02736"/>
            <a:ext cx="82296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F48"/>
                </a:solidFill>
                <a:latin typeface="Calibri"/>
              </a:rPr>
              <a:t>Attribution:  Acceptance, draft cost, graph mode, checkpoint, and engine implementation all matter.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333F48"/>
                </a:solidFill>
                <a:latin typeface="Calibri"/>
              </a:rPr>
              <a:t>A useful serving claim names the draft method, engine, hardware, and offered 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F48"/>
                </a:solidFill>
                <a:latin typeface="Calibri"/>
              </a:rPr>
              <a:t>Evidence behind the deck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BF5700"/>
                </a:solidFill>
                <a:latin typeface="Calibri"/>
              </a:rPr>
              <a:t>APPENDIX  ·  REPRODUCIBILITY AND PRIMARY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9344"/>
            <a:ext cx="4069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19072"/>
            <a:ext cx="3703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5700"/>
                </a:solidFill>
                <a:latin typeface="Calibri"/>
              </a:rPr>
              <a:t>PROJECT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48256"/>
            <a:ext cx="3703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Repo: github.com/bharaththiruveedula/benchmark-speculative-decoding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Measurements: results/table_latest.json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Shared client: bench/run.py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Server settings: configs/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Coverage: 16/16 requests per published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609344"/>
            <a:ext cx="39776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719072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F5700"/>
                </a:solidFill>
                <a:latin typeface="Calibri"/>
              </a:rPr>
              <a:t>PRIMARY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048256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Leviathan et al., ICML 2023 — speculative decoding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Cai et al., 2024 — Medusa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Li et al., 2025 — EAGLE-3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vLLM and SGLang speculative-decoding docs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F48"/>
                </a:solidFill>
                <a:latin typeface="Calibri"/>
              </a:rPr>
              <a:t>NVIDIA L40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15968"/>
            <a:ext cx="8229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5700"/>
                </a:solidFill>
                <a:latin typeface="Calibri"/>
                <a:hlinkClick r:id="rId2"/>
              </a:rPr>
              <a:t>https://github.com/bharaththiruveedula/benchmark-speculative-decoding  ·  Benchmark values are project-reported.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6217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Bharath Thiruveedula · Abhishek Kumar · Scalable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864608"/>
            <a:ext cx="914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6B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Dark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5721</TotalTime>
  <Words>250</Words>
  <Application>Microsoft Macintosh PowerPoint</Application>
  <PresentationFormat>On-screen Show (16:9)</PresentationFormat>
  <Paragraphs>30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16-9 Cover</vt:lpstr>
      <vt:lpstr>16-9 Dark Background</vt:lpstr>
      <vt:lpstr>16-9 Light Background</vt:lpstr>
      <vt:lpstr>16-9 White Backgroud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Speculative decoding under production serving stacks</dc:title>
  <dc:subject>Scalable Machine Learning — The University of Texas at Austin</dc:subject>
  <dc:creator>Bharath Thiruveedula, Abhishek Kumar</dc:creator>
  <cp:keywords/>
  <dc:description/>
  <cp:lastModifiedBy>Bynum, Susanne</cp:lastModifiedBy>
  <cp:revision>399</cp:revision>
  <cp:lastPrinted>2011-01-24T02:49:42Z</cp:lastPrinted>
  <dcterms:created xsi:type="dcterms:W3CDTF">2011-06-30T15:04:08Z</dcterms:created>
  <dcterms:modified xsi:type="dcterms:W3CDTF">2023-05-04T18:19:40Z</dcterms:modified>
  <cp:category/>
</cp:coreProperties>
</file>